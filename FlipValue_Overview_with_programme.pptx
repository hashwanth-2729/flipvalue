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FlipValue answers what a phone is worth, what it could fetch from a dealer, and whether repairing it pays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results are from the 2026-10-25 session on Windows 11, Python 3.15 with SQLite.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926080" cy="292608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40880" y="2377440"/>
            <a:ext cx="1828800" cy="1828800"/>
          </a:xfrm>
          <a:prstGeom prst="ellipse">
            <a:avLst/>
          </a:prstGeom>
          <a:solidFill>
            <a:srgbClr val="3A4150"/>
          </a:solidFill>
          <a:ln w="12700">
            <a:solidFill>
              <a:srgbClr val="3A41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0" y="822960"/>
            <a:ext cx="2926080" cy="2926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₹</a:t>
            </a:r>
            <a:endParaRPr lang="en-US" sz="1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FlipValue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3D9D0"/>
                </a:solidFill>
              </a:rPr>
              <a:t>Independent phone resale intelligence for India, with the US as a second market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</a:rPr>
              <a:t>Project overview  ·  v0.2.0  · 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>
                <a:solidFill>
                  <a:srgbClr val="D9D4C4"/>
                </a:solidFill>
                <a:latin typeface="Cambria" panose="02040503050406030204"/>
              </a:rPr>
              <a:t>Tonight's </a:t>
            </a:r>
            <a:r>
              <a:rPr sz="3000" b="1">
                <a:solidFill>
                  <a:srgbClr val="D49A2F"/>
                </a:solidFill>
                <a:latin typeface="Cambria" panose="02040503050406030204"/>
              </a:rPr>
              <a:t>Programme</a:t>
            </a:r>
            <a:endParaRPr sz="3000" b="1">
              <a:solidFill>
                <a:srgbClr val="D49A2F"/>
              </a:solidFill>
              <a:latin typeface="Cambria" panose="02040503050406030204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44042" y="994409"/>
            <a:ext cx="1954530" cy="1748789"/>
          </a:xfrm>
          <a:prstGeom prst="roundRect">
            <a:avLst>
              <a:gd name="adj" fmla="val 6000"/>
            </a:avLst>
          </a:prstGeom>
          <a:solidFill>
            <a:srgbClr val="14151C"/>
          </a:solidFill>
          <a:ln w="12700">
            <a:solidFill>
              <a:srgbClr val="27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778" y="1168145"/>
            <a:ext cx="548640" cy="548640"/>
          </a:xfrm>
          <a:prstGeom prst="ellipse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938" y="1305306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12773" y="1168145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0">
                <a:solidFill>
                  <a:srgbClr val="8A8D99"/>
                </a:solidFill>
                <a:latin typeface="Calibri" panose="020F0502020204030204"/>
              </a:rPr>
              <a:t>01</a:t>
            </a:r>
            <a:endParaRPr sz="1500" b="0">
              <a:solidFill>
                <a:srgbClr val="8A8D99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7778" y="1890522"/>
            <a:ext cx="168021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0A93B"/>
                </a:solidFill>
                <a:latin typeface="Calibri" panose="020F0502020204030204"/>
              </a:rPr>
              <a:t>app.py</a:t>
            </a:r>
            <a:endParaRPr sz="1500" b="1">
              <a:solidFill>
                <a:srgbClr val="E0A93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7778" y="2228850"/>
            <a:ext cx="168021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E8E6DF"/>
                </a:solidFill>
                <a:latin typeface="Calibri" panose="020F0502020204030204"/>
              </a:rPr>
              <a:t>The Director</a:t>
            </a:r>
            <a:endParaRPr sz="1300" b="0">
              <a:solidFill>
                <a:srgbClr val="E8E6DF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11171" y="994409"/>
            <a:ext cx="1954530" cy="1748789"/>
          </a:xfrm>
          <a:prstGeom prst="roundRect">
            <a:avLst>
              <a:gd name="adj" fmla="val 6000"/>
            </a:avLst>
          </a:prstGeom>
          <a:solidFill>
            <a:srgbClr val="14151C"/>
          </a:solidFill>
          <a:ln w="12700">
            <a:solidFill>
              <a:srgbClr val="27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84907" y="1168145"/>
            <a:ext cx="548640" cy="548640"/>
          </a:xfrm>
          <a:prstGeom prst="ellipse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066" y="1305306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79901" y="1168145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0">
                <a:solidFill>
                  <a:srgbClr val="8A8D99"/>
                </a:solidFill>
                <a:latin typeface="Calibri" panose="020F0502020204030204"/>
              </a:rPr>
              <a:t>02</a:t>
            </a:r>
            <a:endParaRPr sz="1500" b="0">
              <a:solidFill>
                <a:srgbClr val="8A8D99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84907" y="1890522"/>
            <a:ext cx="168021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D64550"/>
                </a:solidFill>
                <a:latin typeface="Calibri" panose="020F0502020204030204"/>
              </a:rPr>
              <a:t>db/models.py</a:t>
            </a:r>
            <a:endParaRPr sz="1500" b="1">
              <a:solidFill>
                <a:srgbClr val="D64550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84907" y="2228850"/>
            <a:ext cx="168021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E8E6DF"/>
                </a:solidFill>
                <a:latin typeface="Calibri" panose="020F0502020204030204"/>
              </a:rPr>
              <a:t>The Vault</a:t>
            </a:r>
            <a:endParaRPr sz="1300" b="0">
              <a:solidFill>
                <a:srgbClr val="E8E6DF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678299" y="994409"/>
            <a:ext cx="1954530" cy="1748789"/>
          </a:xfrm>
          <a:prstGeom prst="roundRect">
            <a:avLst>
              <a:gd name="adj" fmla="val 6000"/>
            </a:avLst>
          </a:prstGeom>
          <a:solidFill>
            <a:srgbClr val="14151C"/>
          </a:solidFill>
          <a:ln w="12700">
            <a:solidFill>
              <a:srgbClr val="27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52035" y="1168145"/>
            <a:ext cx="548640" cy="548640"/>
          </a:xfrm>
          <a:prstGeom prst="ellipse">
            <a:avLst/>
          </a:prstGeom>
          <a:solidFill>
            <a:srgbClr val="1F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195" y="1305306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7029" y="1168145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0">
                <a:solidFill>
                  <a:srgbClr val="8A8D99"/>
                </a:solidFill>
                <a:latin typeface="Calibri" panose="020F0502020204030204"/>
              </a:rPr>
              <a:t>03</a:t>
            </a:r>
            <a:endParaRPr sz="1500" b="0">
              <a:solidFill>
                <a:srgbClr val="8A8D99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52035" y="1890522"/>
            <a:ext cx="168021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FA89A"/>
                </a:solidFill>
                <a:latin typeface="Calibri" panose="020F0502020204030204"/>
              </a:rPr>
              <a:t>engine.py</a:t>
            </a:r>
            <a:endParaRPr sz="1500" b="1">
              <a:solidFill>
                <a:srgbClr val="1FA89A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52035" y="2228850"/>
            <a:ext cx="168021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E8E6DF"/>
                </a:solidFill>
                <a:latin typeface="Calibri" panose="020F0502020204030204"/>
              </a:rPr>
              <a:t>The Brain</a:t>
            </a:r>
            <a:endParaRPr sz="1300" b="0">
              <a:solidFill>
                <a:srgbClr val="E8E6DF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45427" y="994409"/>
            <a:ext cx="1954530" cy="1748789"/>
          </a:xfrm>
          <a:prstGeom prst="roundRect">
            <a:avLst>
              <a:gd name="adj" fmla="val 6000"/>
            </a:avLst>
          </a:prstGeom>
          <a:solidFill>
            <a:srgbClr val="14151C"/>
          </a:solidFill>
          <a:ln w="12700">
            <a:solidFill>
              <a:srgbClr val="27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19163" y="1168145"/>
            <a:ext cx="548640" cy="548640"/>
          </a:xfrm>
          <a:prstGeom prst="ellipse">
            <a:avLst/>
          </a:prstGeom>
          <a:solidFill>
            <a:srgbClr val="E2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323" y="1305306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114157" y="1168145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0">
                <a:solidFill>
                  <a:srgbClr val="8A8D99"/>
                </a:solidFill>
                <a:latin typeface="Calibri" panose="020F0502020204030204"/>
              </a:rPr>
              <a:t>04</a:t>
            </a:r>
            <a:endParaRPr sz="1500" b="0">
              <a:solidFill>
                <a:srgbClr val="8A8D99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19163" y="1890522"/>
            <a:ext cx="168021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27D3A"/>
                </a:solidFill>
                <a:latin typeface="Calibri" panose="020F0502020204030204"/>
              </a:rPr>
              <a:t>marketplace/providers.py</a:t>
            </a:r>
            <a:endParaRPr sz="1100" b="1">
              <a:solidFill>
                <a:srgbClr val="E27D3A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19163" y="2228850"/>
            <a:ext cx="168021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E8E6DF"/>
                </a:solidFill>
                <a:latin typeface="Calibri" panose="020F0502020204030204"/>
              </a:rPr>
              <a:t>Outside world</a:t>
            </a:r>
            <a:endParaRPr sz="1300" b="0">
              <a:solidFill>
                <a:srgbClr val="E8E6DF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44042" y="2948939"/>
            <a:ext cx="1954530" cy="1748789"/>
          </a:xfrm>
          <a:prstGeom prst="roundRect">
            <a:avLst>
              <a:gd name="adj" fmla="val 6000"/>
            </a:avLst>
          </a:prstGeom>
          <a:solidFill>
            <a:srgbClr val="14151C"/>
          </a:solidFill>
          <a:ln w="12700">
            <a:solidFill>
              <a:srgbClr val="27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7778" y="3122675"/>
            <a:ext cx="548640" cy="548640"/>
          </a:xfrm>
          <a:prstGeom prst="ellipse">
            <a:avLst/>
          </a:prstGeom>
          <a:solidFill>
            <a:srgbClr val="8A6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38" y="3259835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12773" y="3122675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0">
                <a:solidFill>
                  <a:srgbClr val="8A8D99"/>
                </a:solidFill>
                <a:latin typeface="Calibri" panose="020F0502020204030204"/>
              </a:rPr>
              <a:t>05</a:t>
            </a:r>
            <a:endParaRPr sz="1500" b="0">
              <a:solidFill>
                <a:srgbClr val="8A8D99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7778" y="3845052"/>
            <a:ext cx="168021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8A6FD1"/>
                </a:solidFill>
                <a:latin typeface="Calibri" panose="020F0502020204030204"/>
              </a:rPr>
              <a:t>marketplace/matching.py</a:t>
            </a:r>
            <a:endParaRPr sz="1100" b="1">
              <a:solidFill>
                <a:srgbClr val="8A6FD1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7778" y="4183379"/>
            <a:ext cx="168021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E8E6DF"/>
                </a:solidFill>
                <a:latin typeface="Calibri" panose="020F0502020204030204"/>
              </a:rPr>
              <a:t>The Matchmaker</a:t>
            </a:r>
            <a:endParaRPr sz="1300" b="0">
              <a:solidFill>
                <a:srgbClr val="E8E6DF"/>
              </a:solidFill>
              <a:latin typeface="Calibri" panose="020F050202020403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511171" y="2948939"/>
            <a:ext cx="1954530" cy="1748789"/>
          </a:xfrm>
          <a:prstGeom prst="roundRect">
            <a:avLst>
              <a:gd name="adj" fmla="val 6000"/>
            </a:avLst>
          </a:prstGeom>
          <a:solidFill>
            <a:srgbClr val="14151C"/>
          </a:solidFill>
          <a:ln w="12700">
            <a:solidFill>
              <a:srgbClr val="27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684907" y="3122675"/>
            <a:ext cx="548640" cy="548640"/>
          </a:xfrm>
          <a:prstGeom prst="ellipse">
            <a:avLst/>
          </a:prstGeom>
          <a:solidFill>
            <a:srgbClr val="D94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on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066" y="3259835"/>
            <a:ext cx="274320" cy="2743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779901" y="3122675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0">
                <a:solidFill>
                  <a:srgbClr val="8A8D99"/>
                </a:solidFill>
                <a:latin typeface="Calibri" panose="020F0502020204030204"/>
              </a:rPr>
              <a:t>06</a:t>
            </a:r>
            <a:endParaRPr sz="1500" b="0">
              <a:solidFill>
                <a:srgbClr val="8A8D99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684907" y="3845052"/>
            <a:ext cx="168021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D9487E"/>
                </a:solidFill>
                <a:latin typeface="Calibri" panose="020F0502020204030204"/>
              </a:rPr>
              <a:t>routes/</a:t>
            </a:r>
            <a:endParaRPr sz="1500" b="1">
              <a:solidFill>
                <a:srgbClr val="D9487E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684907" y="4183379"/>
            <a:ext cx="168021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E8E6DF"/>
                </a:solidFill>
                <a:latin typeface="Calibri" panose="020F0502020204030204"/>
              </a:rPr>
              <a:t>The Four Doors</a:t>
            </a:r>
            <a:endParaRPr sz="1300" b="0">
              <a:solidFill>
                <a:srgbClr val="E8E6DF"/>
              </a:solidFill>
              <a:latin typeface="Calibri" panose="020F050202020403020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678299" y="2948939"/>
            <a:ext cx="1954530" cy="1748789"/>
          </a:xfrm>
          <a:prstGeom prst="roundRect">
            <a:avLst>
              <a:gd name="adj" fmla="val 6000"/>
            </a:avLst>
          </a:prstGeom>
          <a:solidFill>
            <a:srgbClr val="14151C"/>
          </a:solidFill>
          <a:ln w="12700">
            <a:solidFill>
              <a:srgbClr val="27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852035" y="3122675"/>
            <a:ext cx="548640" cy="548640"/>
          </a:xfrm>
          <a:prstGeom prst="ellipse">
            <a:avLst/>
          </a:prstGeom>
          <a:solidFill>
            <a:srgbClr val="E0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con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9195" y="3259835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947029" y="3122675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0">
                <a:solidFill>
                  <a:srgbClr val="8A8D99"/>
                </a:solidFill>
                <a:latin typeface="Calibri" panose="020F0502020204030204"/>
              </a:rPr>
              <a:t>07</a:t>
            </a:r>
            <a:endParaRPr sz="1500" b="0">
              <a:solidFill>
                <a:srgbClr val="8A8D99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852035" y="3845052"/>
            <a:ext cx="168021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E0A93B"/>
                </a:solidFill>
                <a:latin typeface="Calibri" panose="020F0502020204030204"/>
              </a:rPr>
              <a:t>App.tsx</a:t>
            </a:r>
            <a:endParaRPr sz="1500" b="1">
              <a:solidFill>
                <a:srgbClr val="E0A93B"/>
              </a:solidFill>
              <a:latin typeface="Calibri" panose="020F050202020403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852035" y="4183379"/>
            <a:ext cx="168021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E8E6DF"/>
                </a:solidFill>
                <a:latin typeface="Calibri" panose="020F0502020204030204"/>
              </a:rPr>
              <a:t>The Stage</a:t>
            </a:r>
            <a:endParaRPr sz="1300" b="0">
              <a:solidFill>
                <a:srgbClr val="E8E6DF"/>
              </a:solidFill>
              <a:latin typeface="Calibri" panose="020F0502020204030204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845427" y="2948939"/>
            <a:ext cx="1954530" cy="1748789"/>
          </a:xfrm>
          <a:prstGeom prst="roundRect">
            <a:avLst>
              <a:gd name="adj" fmla="val 6000"/>
            </a:avLst>
          </a:prstGeom>
          <a:solidFill>
            <a:srgbClr val="14151C"/>
          </a:solidFill>
          <a:ln w="12700">
            <a:solidFill>
              <a:srgbClr val="272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019163" y="3122675"/>
            <a:ext cx="548640" cy="548640"/>
          </a:xfrm>
          <a:prstGeom prst="ellipse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con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6323" y="3259835"/>
            <a:ext cx="274320" cy="2743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114157" y="3122675"/>
            <a:ext cx="51206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500" b="0">
                <a:solidFill>
                  <a:srgbClr val="8A8D99"/>
                </a:solidFill>
                <a:latin typeface="Calibri" panose="020F0502020204030204"/>
              </a:rPr>
              <a:t>08</a:t>
            </a:r>
            <a:endParaRPr sz="1500" b="0">
              <a:solidFill>
                <a:srgbClr val="8A8D99"/>
              </a:solidFill>
              <a:latin typeface="Calibri" panose="020F0502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019163" y="3845052"/>
            <a:ext cx="168021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D64550"/>
                </a:solidFill>
                <a:latin typeface="Calibri" panose="020F0502020204030204"/>
              </a:rPr>
              <a:t>styles.css</a:t>
            </a:r>
            <a:endParaRPr sz="1500" b="1">
              <a:solidFill>
                <a:srgbClr val="D64550"/>
              </a:solidFill>
              <a:latin typeface="Calibri" panose="020F050202020403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019163" y="4183379"/>
            <a:ext cx="168021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E8E6DF"/>
                </a:solidFill>
                <a:latin typeface="Calibri" panose="020F0502020204030204"/>
              </a:rPr>
              <a:t>Costume Dept</a:t>
            </a:r>
            <a:endParaRPr sz="1300" b="0">
              <a:solidFill>
                <a:srgbClr val="E8E6DF"/>
              </a:solidFill>
              <a:latin typeface="Calibri" panose="020F050202020403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8A8D99"/>
                </a:solidFill>
                <a:latin typeface="Calibri" panose="020F0502020204030204"/>
              </a:rPr>
              <a:t>FlipValue  ·  v0.2.0</a:t>
            </a:r>
            <a:endParaRPr sz="900" b="0">
              <a:solidFill>
                <a:srgbClr val="8A8D99"/>
              </a:solidFill>
              <a:latin typeface="Calibri" panose="020F050202020403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>
                <a:solidFill>
                  <a:srgbClr val="8A8D99"/>
                </a:solidFill>
                <a:latin typeface="Calibri" panose="020F0502020204030204"/>
              </a:rPr>
              <a:t>11</a:t>
            </a:r>
            <a:endParaRPr sz="900" b="0">
              <a:solidFill>
                <a:srgbClr val="8A8D99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Five questions, one honest answer each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my phone worth?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280160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As-is private-sale value from comparable sales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920240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would a dealer pay?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20240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Buyback and trade-in quotes, kept separate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560320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if I repair it?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560320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After-repair value, only with real evidence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00400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does it cost new or refurbished?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200400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Cross-source price comparison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8862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840480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Repair or sell?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840480"/>
            <a:ext cx="3657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Repair-vs-sell arithmetic in one calculator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FlipValue  ·  v0.2.0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FastAPI service, four front doors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8132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Website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470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94560"/>
            <a:ext cx="15544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React app: value a phone, compare prices, trends, watchlist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4F7A6A"/>
          </a:solidFill>
          <a:ln w="12700">
            <a:solidFill>
              <a:srgbClr val="4F7A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48132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Developer API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8470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/api/v1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194560"/>
            <a:ext cx="15544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X-API-Key with scopes, per-key limits and daily quota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09160" y="148132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Partner API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18470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/v1/valuations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194560"/>
            <a:ext cx="15544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FixMyTech contract, idempotent, optional client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8C5A7A"/>
          </a:solidFill>
          <a:ln w="12700">
            <a:solidFill>
              <a:srgbClr val="8C5A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148132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Operator API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84708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/admin/api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194560"/>
            <a:ext cx="155448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Sources, imports, rejects, audit, offer refresh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0" y="31546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474720"/>
            <a:ext cx="7589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8A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engine.py</a:t>
            </a:r>
            <a:r>
              <a:rPr lang="en-US" sz="1400" dirty="0">
                <a:solidFill>
                  <a:srgbClr val="FFFFFF"/>
                </a:solidFill>
              </a:rPr>
              <a:t>  one valuation engine serves every channel; the frontend holds no pricing logic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FlipValue  ·  v0.2.0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Valuation method: comparables-v1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74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Select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</a:rPr>
              <a:t>Same model, storage, region and grade within a 180-day window. Nothing pooled.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371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874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Pick a basis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28600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</a:rPr>
              <a:t>Completed sales, then listings, then synthetic (dev only). Bases never mixed.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371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1874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Summarise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28600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</a:rPr>
              <a:t>Median value. n ≥ 10: 10th–90th percentile; 3–9: min–max; under 3: no estimate.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13716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1874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Label quality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28600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</a:rPr>
              <a:t>Evidence-backed needs completed sales, n ≥ 10, newest ≤ 90 days. Else limited.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703320"/>
            <a:ext cx="75895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430"/>
                </a:solidFill>
              </a:rPr>
              <a:t>Faults and device age do not adjust prices. There is no evidence for fixed discounts, and every result says so.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FlipValue  ·  v0.2.0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Value types are never blended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274320" cy="27432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463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Private sale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</a:rPr>
              <a:t>Median of comparable resale observations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3258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508760"/>
            <a:ext cx="274320" cy="274320"/>
          </a:xfrm>
          <a:prstGeom prst="ellipse">
            <a:avLst/>
          </a:prstGeom>
          <a:solidFill>
            <a:srgbClr val="4F7A6A"/>
          </a:solidFill>
          <a:ln w="12700">
            <a:solidFill>
              <a:srgbClr val="4F7A6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1463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Buyback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6596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</a:rPr>
              <a:t>Dealer offers, then trade-in, summarised separately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3258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508760"/>
            <a:ext cx="274320" cy="274320"/>
          </a:xfrm>
          <a:prstGeom prst="ellipse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1463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Refurbished retail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96596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</a:rPr>
              <a:t>What retailers charge now, from marketplace offers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00400"/>
            <a:ext cx="274320" cy="274320"/>
          </a:xfrm>
          <a:prstGeom prst="ellipse">
            <a:avLst/>
          </a:prstGeom>
          <a:solidFill>
            <a:srgbClr val="8C5A7A"/>
          </a:solidFill>
          <a:ln w="12700">
            <a:solidFill>
              <a:srgbClr val="8C5A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31546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Original retail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65760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</a:rPr>
              <a:t>MRP, for context only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301752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3200400"/>
            <a:ext cx="274320" cy="2743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40480" y="31546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After repair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657600"/>
            <a:ext cx="2148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</a:rPr>
              <a:t>Uplift from comparables; unavailable without post-repair evidence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3154680"/>
            <a:ext cx="251460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</a:rPr>
              <a:t>Each result carries confidence class, assumptions, limitations and how to improve it.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FlipValue  ·  v0.2.0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Marketplace data and product matching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280160"/>
          <a:ext cx="4937760" cy="283464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Source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Status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Flipkart Affiliate API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Adapter tested on fixtures; blocked live (needs approved account)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Amazon.in Creators API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Adapter tested on fixtures; blocked live (needs Associates approval)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Cashify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Manual quotes only; terms prohibit systematic retrieval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Real completed sales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A4150"/>
                          </a:solidFill>
                        </a:rPr>
                        <a:t>Blocked: no authorised source yet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2801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Match categories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852160" y="16916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4F7A6A"/>
          </a:solidFill>
          <a:ln w="12700">
            <a:solidFill>
              <a:srgbClr val="4F7A6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1691640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Exact</a:t>
            </a:r>
            <a:endParaRPr lang="en-US" sz="1200" dirty="0"/>
          </a:p>
        </p:txBody>
      </p:sp>
      <p:sp>
        <p:nvSpPr>
          <p:cNvPr id="3" name="Shape 4"/>
          <p:cNvSpPr/>
          <p:nvPr/>
        </p:nvSpPr>
        <p:spPr>
          <a:xfrm>
            <a:off x="5852160" y="21488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0" y="2148840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Strong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52160" y="26060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2606040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Variant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52160" y="30632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8C5A7A"/>
          </a:solidFill>
          <a:ln w="12700">
            <a:solidFill>
              <a:srgbClr val="8C5A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0" y="3063240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Similar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852160" y="352044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52160" y="3520440"/>
            <a:ext cx="1188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Unmatched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40233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</a:rPr>
              <a:t>Every match carries a score and reasons you can inspect.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FlipValue  ·  v0.2.0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Developer platform and API keys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Keys and access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29184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Accounts: email plus scrypt, HttpOnly session cookie, CSRF header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Keys from a CSPRNG, shown once, stored as SHA-256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Scopes enforced server-side; revoke takes effect on the next request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No raw key ever appears in the audit log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4480560" y="1280160"/>
            <a:ext cx="4114800" cy="2651760"/>
          </a:xfrm>
          <a:prstGeom prst="roundRect">
            <a:avLst>
              <a:gd name="adj" fmla="val 275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417320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/api/v1 endpoints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828800"/>
            <a:ext cx="374904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health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valuations (create, get; owner-only)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market-prices and price-history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products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4150"/>
                </a:solidFill>
              </a:rPr>
              <a:t>usage, with per-key minute limits, daily quotas and X-RateLimit headers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FlipValue  ·  v0.2.0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it stands today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2B8A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222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0604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3D9D0"/>
                </a:solidFill>
              </a:rPr>
              <a:t>backend tests passing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46304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260604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3D9D0"/>
                </a:solidFill>
              </a:rPr>
              <a:t>skipped (no PostgreSQL server)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46304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60604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3D9D0"/>
                </a:solidFill>
              </a:rPr>
              <a:t>catalogue models, hand-curated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46304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0604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3D9D0"/>
                </a:solidFill>
              </a:rPr>
              <a:t>migrations (0002 not run on PostgreSQL)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CA3AF"/>
                </a:solidFill>
              </a:rPr>
              <a:t>Also covered: Vitest and Testing Library, Playwright end-to-end in Edge, ruff lint, typecheck. Not production-ready and not deployed.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Known limits, stated up front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18872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real market data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</a:rPr>
              <a:t>Every number in dev is synthetic and labelled Mock; production returns no data until a source is imported.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4663440" y="118872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Small catalogue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373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</a:rPr>
              <a:t>6 models; unknown OEM variants return 404 until an alias is added.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548640" y="228600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231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Self-reported condition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34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</a:rPr>
              <a:t>The questionnaire maps answers to a grade; nothing verifies hardware.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4663440" y="228600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4231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Account gaps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834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</a:rPr>
              <a:t>No email verification, password reset or self-service deletion.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48640" y="338328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52044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Not deployed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9319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</a:rPr>
              <a:t>Cloud config rehearsed locally; image build, services and HTTPS unverified.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663440" y="338328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4EFEA"/>
          </a:solidFill>
          <a:ln w="12700">
            <a:solidFill>
              <a:srgbClr val="F4EF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52044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43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Drafts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9319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150"/>
                </a:solidFill>
              </a:rPr>
              <a:t>Privacy and Terms pages have had no legal review.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FlipValue  ·  v0.2.0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unlocks production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25880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Secure approved Flipkart and Amazon accounts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984248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842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84248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Import an authorised source of completed sales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4261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42616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Run migration 0002 on PostgreSQL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300984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Deploy to Firebase, Cloud Run and Cloud SQL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959352"/>
            <a:ext cx="384048" cy="384048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959352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Add email verification and legal review of Terms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ipValue">
  <a:themeElements>
    <a:clrScheme name="FlipValue">
      <a:dk1>
        <a:srgbClr val="1F2430"/>
      </a:dk1>
      <a:lt1>
        <a:srgbClr val="FFFFFF"/>
      </a:lt1>
      <a:dk2>
        <a:srgbClr val="3A4150"/>
      </a:dk2>
      <a:lt2>
        <a:srgbClr val="F4EFEA"/>
      </a:lt2>
      <a:accent1>
        <a:srgbClr val="C8553D"/>
      </a:accent1>
      <a:accent2>
        <a:srgbClr val="4F7A6A"/>
      </a:accent2>
      <a:accent3>
        <a:srgbClr val="D9A441"/>
      </a:accent3>
      <a:accent4>
        <a:srgbClr val="4A6FA5"/>
      </a:accent4>
      <a:accent5>
        <a:srgbClr val="8C5A7A"/>
      </a:accent5>
      <a:accent6>
        <a:srgbClr val="6B7280"/>
      </a:accent6>
      <a:hlink>
        <a:srgbClr val="C8553D"/>
      </a:hlink>
      <a:folHlink>
        <a:srgbClr val="6B7280"/>
      </a:folHlink>
    </a:clrScheme>
    <a:fontScheme name="FlipVa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lipValue">
  <a:themeElements>
    <a:clrScheme name="FlipValue">
      <a:dk1>
        <a:srgbClr val="1F2430"/>
      </a:dk1>
      <a:lt1>
        <a:srgbClr val="FFFFFF"/>
      </a:lt1>
      <a:dk2>
        <a:srgbClr val="3A4150"/>
      </a:dk2>
      <a:lt2>
        <a:srgbClr val="F4EFEA"/>
      </a:lt2>
      <a:accent1>
        <a:srgbClr val="C8553D"/>
      </a:accent1>
      <a:accent2>
        <a:srgbClr val="4F7A6A"/>
      </a:accent2>
      <a:accent3>
        <a:srgbClr val="D9A441"/>
      </a:accent3>
      <a:accent4>
        <a:srgbClr val="4A6FA5"/>
      </a:accent4>
      <a:accent5>
        <a:srgbClr val="8C5A7A"/>
      </a:accent5>
      <a:accent6>
        <a:srgbClr val="6B7280"/>
      </a:accent6>
      <a:hlink>
        <a:srgbClr val="C8553D"/>
      </a:hlink>
      <a:folHlink>
        <a:srgbClr val="6B7280"/>
      </a:folHlink>
    </a:clrScheme>
    <a:fontScheme name="FlipValu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4153</Words>
  <Application>WPS Presentation</Application>
  <PresentationFormat>On-screen Show (16:9)</PresentationFormat>
  <Paragraphs>325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Arial</vt:lpstr>
      <vt:lpstr>SimSun</vt:lpstr>
      <vt:lpstr>Wingdings</vt:lpstr>
      <vt:lpstr>Cambria</vt:lpstr>
      <vt:lpstr>Cambria</vt:lpstr>
      <vt:lpstr>Cambria</vt:lpstr>
      <vt:lpstr>Courier New</vt:lpstr>
      <vt:lpstr>Courier New</vt:lpstr>
      <vt:lpstr>Courier New</vt:lpstr>
      <vt:lpstr>Calibri</vt:lpstr>
      <vt:lpstr>Calibri</vt:lpstr>
      <vt:lpstr>Calibri</vt:lpstr>
      <vt:lpstr>Cambria</vt:lpstr>
      <vt:lpstr>Calibri</vt:lpstr>
      <vt:lpstr>Microsoft YaHei</vt:lpstr>
      <vt:lpstr>Arial Unicode MS</vt:lpstr>
      <vt:lpstr>FlipValue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FlipValue</dc:title>
  <dc:creator>PptxGenJS</dc:creator>
  <dc:subject>PptxGenJS Presentation</dc:subject>
  <cp:lastModifiedBy>91730</cp:lastModifiedBy>
  <cp:revision>2</cp:revision>
  <dcterms:created xsi:type="dcterms:W3CDTF">2026-10-26T09:47:00Z</dcterms:created>
  <dcterms:modified xsi:type="dcterms:W3CDTF">2026-10-26T11:55:28Z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9668139893DE4DD1A756C69319E78B59_12</vt:lpwstr>
  </property>
</Properties>
</file>